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 tree structure for Childhood Obesity Prevention intervention.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 tree structure for Hepatitis C Therapy intervention.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 tree structure for Housing Insulation intervention.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 tree structure for Hpv Vaccination intervention.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 tree structure for Smoking Cessation intervention.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Scatter plot of incremental costs vs incremental QALYs.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Scatter plot of incremental costs vs incremental QALYs.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Scatter plot of incremental costs vs incremental QALYs.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Cost-Effectiveness Acceptability Curve and Frontier.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Distributional impact of interventions across socioeconomic groups.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Willingness to pay for equity-weighted health gains.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Financial implications of the interventions over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Expected Value of Perfect Information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Health Economic Analysis: Policy Interventions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New Zealand Medical Journal Submission</a:t>
            </a:r>
          </a:p>
          <a:p>
            <a:r>
              <a:t>Generated: 2025-11-27</a:t>
            </a:r>
          </a:p>
          <a:p>
            <a:r>
              <a:t>Version: v3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Decision Model Structures</a:t>
            </a:r>
          </a:p>
          <a:p>
            <a:r>
              <a:t>2. Cost-Effectiveness Analysis Results</a:t>
            </a:r>
          </a:p>
          <a:p>
            <a:r>
              <a:t>3. Comparative ICER Summary</a:t>
            </a:r>
          </a:p>
          <a:p>
            <a:r>
              <a:t>4. Probabilistic Sensitivity Analysis</a:t>
            </a:r>
          </a:p>
          <a:p>
            <a:r>
              <a:t>5. Distributional Cost-Effectiveness Analysis (DCEA)</a:t>
            </a:r>
          </a:p>
          <a:p>
            <a:r>
              <a:t>6. Budget Impact Analysis</a:t>
            </a:r>
          </a:p>
          <a:p>
            <a:r>
              <a:t>7. Value of Information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Structure: Childhood Obesity Prevention</a:t>
            </a:r>
          </a:p>
        </p:txBody>
      </p:sp>
      <p:pic>
        <p:nvPicPr>
          <p:cNvPr id="3" name="Picture 2" descr="decision_tree_childhood_obesity_prev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2942" y="1371600"/>
            <a:ext cx="638581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Structure: Hepatitis C Therapy</a:t>
            </a:r>
          </a:p>
        </p:txBody>
      </p:sp>
      <p:pic>
        <p:nvPicPr>
          <p:cNvPr id="3" name="Picture 2" descr="decision_tree_hepatitis_c_thera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509" y="1371600"/>
            <a:ext cx="804467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Structure: Housing Insulation</a:t>
            </a:r>
          </a:p>
        </p:txBody>
      </p:sp>
      <p:pic>
        <p:nvPicPr>
          <p:cNvPr id="3" name="Picture 2" descr="decision_tree_housing_ins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277" y="1371600"/>
            <a:ext cx="7405141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Structure: Hpv Vaccination</a:t>
            </a:r>
          </a:p>
        </p:txBody>
      </p:sp>
      <p:pic>
        <p:nvPicPr>
          <p:cNvPr id="3" name="Picture 2" descr="decision_tree_hpv_vaccin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201" y="1371600"/>
            <a:ext cx="5651292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Structure: Smoking Cessation</a:t>
            </a:r>
          </a:p>
        </p:txBody>
      </p:sp>
      <p:pic>
        <p:nvPicPr>
          <p:cNvPr id="3" name="Picture 2" descr="decision_tree_smoking_cess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9985" y="1371600"/>
            <a:ext cx="499172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Cost-Effectiveness Plane: Both Perspectives Comparison</a:t>
            </a:r>
          </a:p>
        </p:txBody>
      </p:sp>
      <p:pic>
        <p:nvPicPr>
          <p:cNvPr id="3" name="Picture 2" descr="ce_plane_both_perspective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5111" y="1371600"/>
            <a:ext cx="6041473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Cost-Effectiveness Plane: Health System Perspective</a:t>
            </a:r>
          </a:p>
        </p:txBody>
      </p:sp>
      <p:pic>
        <p:nvPicPr>
          <p:cNvPr id="3" name="Picture 2" descr="ce_plane_health_system_perspe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5111" y="1371600"/>
            <a:ext cx="6041473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Cost-Effectiveness Plane: Societal Perspective</a:t>
            </a:r>
          </a:p>
        </p:txBody>
      </p:sp>
      <p:pic>
        <p:nvPicPr>
          <p:cNvPr id="3" name="Picture 2" descr="ce_plane_societal_perspe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5267" y="1371600"/>
            <a:ext cx="6021159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Comparative ICER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239485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Intervention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Perspective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ICER ($/QALY)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Cost-Effective (WTP=$50k)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HPV Vaccination (Human Capital)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Health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$-7,247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True</a:t>
                      </a:r>
                    </a:p>
                  </a:txBody>
                  <a:tcPr/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HPV Vaccination (Human Capital)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Societal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$-11,846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True</a:t>
                      </a:r>
                    </a:p>
                  </a:txBody>
                  <a:tcPr/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HPV Vaccination (Friction Cost)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Health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$-7,247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True</a:t>
                      </a:r>
                    </a:p>
                  </a:txBody>
                  <a:tcPr/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HPV Vaccination (Friction Cost)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Societal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$-9,959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True</a:t>
                      </a:r>
                    </a:p>
                  </a:txBody>
                  <a:tcPr/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Smoking Cessation (Human Capital)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Health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$19,402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True</a:t>
                      </a:r>
                    </a:p>
                  </a:txBody>
                  <a:tcPr/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Smoking Cessation (Human Capital)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Societal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$-144,537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True</a:t>
                      </a:r>
                    </a:p>
                  </a:txBody>
                  <a:tcPr/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Smoking Cessation (Friction Cost)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Health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$19,402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True</a:t>
                      </a:r>
                    </a:p>
                  </a:txBody>
                  <a:tcPr/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Smoking Cessation (Friction Cost)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Societal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$-100,786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True</a:t>
                      </a:r>
                    </a:p>
                  </a:txBody>
                  <a:tcPr/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Hepatitis C Therapy (Human Capital)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Health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$-2,839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True</a:t>
                      </a:r>
                    </a:p>
                  </a:txBody>
                  <a:tcPr/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Hepatitis C Therapy (Human Capital)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Societal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$-10,818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True</a:t>
                      </a:r>
                    </a:p>
                  </a:txBody>
                  <a:tcPr/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Hepatitis C Therapy (Friction Cost)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Health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$-2,839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True</a:t>
                      </a:r>
                    </a:p>
                  </a:txBody>
                  <a:tcPr/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Hepatitis C Therapy (Friction Cost)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Societal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$-4,935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True</a:t>
                      </a:r>
                    </a:p>
                  </a:txBody>
                  <a:tcPr/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Childhood Obesity Prevention (Human Capital)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Health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$7,360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True</a:t>
                      </a:r>
                    </a:p>
                  </a:txBody>
                  <a:tcPr/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Childhood Obesity Prevention (Human Capital)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Societal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$-132,199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True</a:t>
                      </a:r>
                    </a:p>
                  </a:txBody>
                  <a:tcPr/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Childhood Obesity Prevention (Friction Cost)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Health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$7,360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True</a:t>
                      </a:r>
                    </a:p>
                  </a:txBody>
                  <a:tcPr/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Childhood Obesity Prevention (Friction Cost)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Societal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$-8,800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True</a:t>
                      </a:r>
                    </a:p>
                  </a:txBody>
                  <a:tcPr/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Housing Insulation (Human Capital)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Health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$-4,913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True</a:t>
                      </a:r>
                    </a:p>
                  </a:txBody>
                  <a:tcPr/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Housing Insulation (Human Capital)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Societal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$-6,998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True</a:t>
                      </a:r>
                    </a:p>
                  </a:txBody>
                  <a:tcPr/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Housing Insulation (Friction Cost)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Health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$-4,913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True</a:t>
                      </a:r>
                    </a:p>
                  </a:txBody>
                  <a:tcPr/>
                </a:tc>
              </a:tr>
              <a:tr h="2395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Housing Insulation (Friction Cost)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Societal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$-11,643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True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Probabilistic Sensitivity Analysis</a:t>
            </a:r>
          </a:p>
        </p:txBody>
      </p:sp>
      <p:pic>
        <p:nvPicPr>
          <p:cNvPr id="3" name="Picture 2" descr="probabilistic_analysis_ceac_ce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37186"/>
            <a:ext cx="11277295" cy="48980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Equity Analysis</a:t>
            </a:r>
          </a:p>
        </p:txBody>
      </p:sp>
      <p:pic>
        <p:nvPicPr>
          <p:cNvPr id="3" name="Picture 2" descr="equity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95376"/>
            <a:ext cx="11277295" cy="498164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DCEA: Willingness to Pay</a:t>
            </a:r>
          </a:p>
        </p:txBody>
      </p:sp>
      <p:pic>
        <p:nvPicPr>
          <p:cNvPr id="3" name="Picture 2" descr="dcea_willingness_to_p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093" y="1371600"/>
            <a:ext cx="7573508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Impact Analysis</a:t>
            </a:r>
          </a:p>
        </p:txBody>
      </p:sp>
      <p:pic>
        <p:nvPicPr>
          <p:cNvPr id="3" name="Picture 2" descr="BIA_budget_impact_analysis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867" y="1371600"/>
            <a:ext cx="653796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Value of Information: EVPI</a:t>
            </a:r>
          </a:p>
        </p:txBody>
      </p:sp>
      <p:pic>
        <p:nvPicPr>
          <p:cNvPr id="3" name="Picture 2" descr="voi_analysis_ev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37699"/>
            <a:ext cx="11277295" cy="4897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