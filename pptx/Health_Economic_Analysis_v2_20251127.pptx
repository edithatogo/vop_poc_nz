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Childhood Obesity Prevention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Hepatitis C Therapy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Housing Insulation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Hpv Vaccination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structure for Smoking Cessation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plot of incremental costs vs incremental QALYs.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plot of incremental costs vs incremental QALYs.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plot of incremental costs vs incremental QALYs.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of Incremental Cost-Effectiveness Ratios across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Value of Perfect Information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Relative importance of attributes in the Discrete Choice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 Economic Analysis: Policy Interventions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Zealand Medical Journal Submission</a:t>
            </a:r>
          </a:p>
          <a:p>
            <a:r>
              <a:t>Generated: 2025-11-27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Decision Model Structures</a:t>
            </a:r>
          </a:p>
          <a:p>
            <a:r>
              <a:t>2. Cost-Effectiveness Analysis Results</a:t>
            </a:r>
          </a:p>
          <a:p>
            <a:r>
              <a:t>3. Distributional Cost-Effectiveness Analysis (DCEA)</a:t>
            </a:r>
          </a:p>
          <a:p>
            <a:r>
              <a:t>4. Value of Information Analysis</a:t>
            </a:r>
          </a:p>
          <a:p>
            <a:r>
              <a:t>5. Budget Impact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Childhood Obesity Prevention</a:t>
            </a:r>
          </a:p>
        </p:txBody>
      </p:sp>
      <p:pic>
        <p:nvPicPr>
          <p:cNvPr id="3" name="Picture 2" descr="decision_tree_childhood_obesity_pre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decision_tree_childhood_obesity_pre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942" y="1371600"/>
            <a:ext cx="638581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Hepatitis C Therapy</a:t>
            </a:r>
          </a:p>
        </p:txBody>
      </p:sp>
      <p:pic>
        <p:nvPicPr>
          <p:cNvPr id="3" name="Picture 2" descr="decision_tree_hepatitis_c_thera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decision_tree_hepatitis_c_thera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09" y="1371600"/>
            <a:ext cx="804467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Housing Insulation</a:t>
            </a:r>
          </a:p>
        </p:txBody>
      </p:sp>
      <p:pic>
        <p:nvPicPr>
          <p:cNvPr id="3" name="Picture 2" descr="decision_tree_housing_in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decision_tree_housing_in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277" y="1371600"/>
            <a:ext cx="740514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Hpv Vaccination</a:t>
            </a:r>
          </a:p>
        </p:txBody>
      </p:sp>
      <p:pic>
        <p:nvPicPr>
          <p:cNvPr id="3" name="Picture 2" descr="decision_tree_hpv_vac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decision_tree_hpv_vac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01" y="1371600"/>
            <a:ext cx="56512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Structure: Smoking Cessation</a:t>
            </a:r>
          </a:p>
        </p:txBody>
      </p:sp>
      <p:pic>
        <p:nvPicPr>
          <p:cNvPr id="3" name="Picture 2" descr="decision_tree_smoking_ces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decision_tree_smoking_ces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85" y="1371600"/>
            <a:ext cx="499172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Plane: Both Perspectives Comparison</a:t>
            </a:r>
          </a:p>
        </p:txBody>
      </p:sp>
      <p:pic>
        <p:nvPicPr>
          <p:cNvPr id="3" name="Picture 2" descr="ce_plane_both_perspecti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ce_plane_both_perspecti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11" y="1371600"/>
            <a:ext cx="604147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Plane: Health System Perspective</a:t>
            </a:r>
          </a:p>
        </p:txBody>
      </p:sp>
      <p:pic>
        <p:nvPicPr>
          <p:cNvPr id="3" name="Picture 2" descr="ce_plane_health_system_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ce_plane_health_system_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11" y="1371600"/>
            <a:ext cx="604147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Cost-Effectiveness Plane: Societal Perspective</a:t>
            </a:r>
          </a:p>
        </p:txBody>
      </p:sp>
      <p:pic>
        <p:nvPicPr>
          <p:cNvPr id="3" name="Picture 2" descr="ce_plane_societal_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ce_plane_societal_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267" y="1371600"/>
            <a:ext cx="602115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ICER Comparison</a:t>
            </a:r>
          </a:p>
        </p:txBody>
      </p:sp>
      <p:pic>
        <p:nvPicPr>
          <p:cNvPr id="3" name="Picture 2" descr="CEA_ICER_Comparison_HS_vs_SOC_indiv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CEA_ICER_Comparison_HS_vs_SOC_indiv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91" y="1371600"/>
            <a:ext cx="758631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of Information: EVPI</a:t>
            </a:r>
          </a:p>
        </p:txBody>
      </p:sp>
      <p:pic>
        <p:nvPicPr>
          <p:cNvPr id="3" name="Picture 2" descr="voi_analysis_e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voi_analysis_e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7699"/>
            <a:ext cx="11277295" cy="489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DCEA: Attribute Importance</a:t>
            </a:r>
          </a:p>
        </p:txBody>
      </p:sp>
      <p:pic>
        <p:nvPicPr>
          <p:cNvPr id="3" name="Picture 2" descr="dcea_attribut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pic>
        <p:nvPicPr>
          <p:cNvPr id="4" name="Picture 3" descr="dcea_attribut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629" y="1371600"/>
            <a:ext cx="75724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